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Berkshire Swash"/>
      <p:regular r:id="rId25"/>
    </p:embeddedFont>
    <p:embeddedFont>
      <p:font typeface="Montserrat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  <p:embeddedFont>
      <p:font typeface="Great Vibes"/>
      <p:regular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regular.fntdata"/><Relationship Id="rId25" Type="http://schemas.openxmlformats.org/officeDocument/2006/relationships/font" Target="fonts/BerkshireSwash-regular.fntdata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6.xml"/><Relationship Id="rId33" Type="http://schemas.openxmlformats.org/officeDocument/2006/relationships/font" Target="fonts/Lato-boldItalic.fntdata"/><Relationship Id="rId10" Type="http://schemas.openxmlformats.org/officeDocument/2006/relationships/slide" Target="slides/slide5.xml"/><Relationship Id="rId32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GreatVibes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38ac5e8d08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38ac5e8d08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38ac5e8d08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38ac5e8d08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38ac5e8d08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38ac5e8d08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38ac5e8d08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38ac5e8d08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38ac5e8d08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38ac5e8d08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38ac5e8d08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38ac5e8d08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4208affb6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4208affb6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4208affb6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4208affb6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4208affb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4208affb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4208affb6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4208affb6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4208affb6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4208affb6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4208affb64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4208affb6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4208affb6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4208affb6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4208affb64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4208affb6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38ac5e8d08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38ac5e8d08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38ac5e8d08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38ac5e8d08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38ac5e8d08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38ac5e8d08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38ac5e8d08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38ac5e8d08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" name="Google Shape;20;p2"/>
          <p:cNvGrpSpPr/>
          <p:nvPr/>
        </p:nvGrpSpPr>
        <p:grpSpPr>
          <a:xfrm>
            <a:off x="0" y="0"/>
            <a:ext cx="9144153" cy="5143624"/>
            <a:chOff x="-77" y="25"/>
            <a:chExt cx="9144153" cy="5143624"/>
          </a:xfrm>
        </p:grpSpPr>
        <p:sp>
          <p:nvSpPr>
            <p:cNvPr id="21" name="Google Shape;21;p2"/>
            <p:cNvSpPr/>
            <p:nvPr/>
          </p:nvSpPr>
          <p:spPr>
            <a:xfrm rot="-5400000">
              <a:off x="-47653" y="219061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 rot="-5400000">
              <a:off x="-47653" y="3047879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-5400000">
              <a:off x="-47653" y="3905144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 rot="-5400000">
              <a:off x="-47653" y="47618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 rot="-5400000">
              <a:off x="-47653" y="1333449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 rot="5400000">
              <a:off x="714198" y="176215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rot="-5400000">
              <a:off x="714322" y="219061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 rot="5400000">
              <a:off x="714198" y="2619420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 rot="-5400000">
              <a:off x="714322" y="3047879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 rot="5400000">
              <a:off x="714198" y="3476684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5400000">
              <a:off x="714322" y="3905144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 rot="5400000">
              <a:off x="714198" y="4333949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 rot="5400000">
              <a:off x="714198" y="4772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 rot="-5400000">
              <a:off x="714322" y="47618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 rot="5400000">
              <a:off x="714198" y="904990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rot="-5400000">
              <a:off x="714322" y="1333449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 rot="5400000">
              <a:off x="1476173" y="176215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 rot="-5400000">
              <a:off x="1476296" y="219061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 rot="5400000">
              <a:off x="1476173" y="2619420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 rot="-5400000">
              <a:off x="1476296" y="3047879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5400000">
              <a:off x="1476173" y="3476684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 rot="-5400000">
              <a:off x="1476296" y="3905144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5400000">
              <a:off x="1476173" y="4333949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 rot="5400000">
              <a:off x="1476173" y="4772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5400000">
              <a:off x="1476296" y="47618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 rot="5400000">
              <a:off x="1476173" y="904990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 rot="-5400000">
              <a:off x="1476296" y="1333449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 rot="5400000">
              <a:off x="2238147" y="176215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 rot="-5400000">
              <a:off x="2238271" y="219061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 rot="5400000">
              <a:off x="2238147" y="2619420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 rot="-5400000">
              <a:off x="2238271" y="3047879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 rot="5400000">
              <a:off x="2238147" y="3476684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 rot="-5400000">
              <a:off x="2238271" y="3905144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 rot="5400000">
              <a:off x="2238147" y="4333949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 rot="5400000">
              <a:off x="2238147" y="4772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 rot="-5400000">
              <a:off x="2238271" y="47618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 rot="5400000">
              <a:off x="2238147" y="904990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 rot="-5400000">
              <a:off x="2238271" y="1333449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 rot="5400000">
              <a:off x="3000173" y="176215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 rot="-5400000">
              <a:off x="3000297" y="219061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 rot="5400000">
              <a:off x="3000173" y="2619420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 rot="-5400000">
              <a:off x="3000297" y="3047879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 rot="5400000">
              <a:off x="3000173" y="3476684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 rot="-5400000">
              <a:off x="3000297" y="3905144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 rot="5400000">
              <a:off x="3000173" y="4333949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 rot="5400000">
              <a:off x="3000173" y="4772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 rot="-5400000">
              <a:off x="3000297" y="47618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 rot="5400000">
              <a:off x="3000173" y="904990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 rot="-5400000">
              <a:off x="3000297" y="1333449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 rot="5400000">
              <a:off x="3762251" y="176215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 rot="-5400000">
              <a:off x="3762374" y="219061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 rot="5400000">
              <a:off x="3762251" y="2619420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 rot="-5400000">
              <a:off x="3762374" y="3047879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 rot="5400000">
              <a:off x="3762251" y="3476684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 rot="-5400000">
              <a:off x="3762374" y="3905144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 rot="5400000">
              <a:off x="3762251" y="4333949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 rot="5400000">
              <a:off x="3762251" y="4772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 rot="-5400000">
              <a:off x="3762374" y="47618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 rot="5400000">
              <a:off x="3762251" y="904990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 rot="-5400000">
              <a:off x="3762374" y="1333449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 rot="5400000">
              <a:off x="-47777" y="176215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 rot="5400000">
              <a:off x="-47777" y="2619420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 rot="5400000">
              <a:off x="-47777" y="3476684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 rot="5400000">
              <a:off x="-47777" y="4333949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 rot="-5400000">
              <a:off x="166697" y="4548163"/>
              <a:ext cx="428700" cy="762000"/>
            </a:xfrm>
            <a:prstGeom prst="rtTriangle">
              <a:avLst/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 rot="5400000">
              <a:off x="-47777" y="4772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 rot="5400000">
              <a:off x="-47777" y="904990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 flipH="1" rot="-5400000">
              <a:off x="166697" y="-166420"/>
              <a:ext cx="428700" cy="762000"/>
            </a:xfrm>
            <a:prstGeom prst="rtTriangle">
              <a:avLst/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 rot="-5400000">
              <a:off x="928672" y="4548163"/>
              <a:ext cx="428700" cy="762000"/>
            </a:xfrm>
            <a:prstGeom prst="rtTriangle">
              <a:avLst/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 flipH="1" rot="-5400000">
              <a:off x="928672" y="-166420"/>
              <a:ext cx="428700" cy="762000"/>
            </a:xfrm>
            <a:prstGeom prst="rtTriangle">
              <a:avLst/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 rot="-5400000">
              <a:off x="1690646" y="4548163"/>
              <a:ext cx="428700" cy="762000"/>
            </a:xfrm>
            <a:prstGeom prst="rtTriangle">
              <a:avLst/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 flipH="1" rot="-5400000">
              <a:off x="1690646" y="-166420"/>
              <a:ext cx="428700" cy="762000"/>
            </a:xfrm>
            <a:prstGeom prst="rtTriangle">
              <a:avLst/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 rot="-5400000">
              <a:off x="2452621" y="4548163"/>
              <a:ext cx="428700" cy="762000"/>
            </a:xfrm>
            <a:prstGeom prst="rtTriangle">
              <a:avLst/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 flipH="1" rot="-5400000">
              <a:off x="2452621" y="-166420"/>
              <a:ext cx="428700" cy="762000"/>
            </a:xfrm>
            <a:prstGeom prst="rtTriangle">
              <a:avLst/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 rot="-5400000">
              <a:off x="3214647" y="4548163"/>
              <a:ext cx="428700" cy="762000"/>
            </a:xfrm>
            <a:prstGeom prst="rtTriangle">
              <a:avLst/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 flipH="1" rot="-5400000">
              <a:off x="3214647" y="-166420"/>
              <a:ext cx="428700" cy="762000"/>
            </a:xfrm>
            <a:prstGeom prst="rtTriangle">
              <a:avLst/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 rot="-5400000">
              <a:off x="3976724" y="4548163"/>
              <a:ext cx="428700" cy="762000"/>
            </a:xfrm>
            <a:prstGeom prst="rtTriangle">
              <a:avLst/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 flipH="1" rot="-5400000">
              <a:off x="3976724" y="-166420"/>
              <a:ext cx="428700" cy="762000"/>
            </a:xfrm>
            <a:prstGeom prst="rtTriangle">
              <a:avLst/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 rot="-5400000">
              <a:off x="4524349" y="219061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 rot="-5400000">
              <a:off x="4524349" y="3047879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 rot="-5400000">
              <a:off x="4524349" y="3905144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 rot="-5400000">
              <a:off x="4524349" y="47618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 rot="-5400000">
              <a:off x="4524349" y="1333449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 rot="5400000">
              <a:off x="5286200" y="176215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 rot="-5400000">
              <a:off x="5286324" y="219061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 rot="5400000">
              <a:off x="5286200" y="2619420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 rot="-5400000">
              <a:off x="5286324" y="3047879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 rot="5400000">
              <a:off x="5286200" y="3476684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 rot="-5400000">
              <a:off x="5286324" y="3905144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 rot="5400000">
              <a:off x="5286200" y="4333949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 rot="5400000">
              <a:off x="5286200" y="4772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 rot="-5400000">
              <a:off x="5286324" y="47618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 rot="5400000">
              <a:off x="5286200" y="904990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 rot="-5400000">
              <a:off x="5286324" y="1333449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 rot="5400000">
              <a:off x="6048175" y="176215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 rot="-5400000">
              <a:off x="6048298" y="219061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 rot="5400000">
              <a:off x="6048175" y="2619420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 rot="-5400000">
              <a:off x="6048298" y="3047879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 rot="5400000">
              <a:off x="6048175" y="3476684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 rot="-5400000">
              <a:off x="6048298" y="3905144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 rot="5400000">
              <a:off x="6048175" y="4333949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 rot="5400000">
              <a:off x="6048175" y="4772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 rot="-5400000">
              <a:off x="6048298" y="47618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 rot="5400000">
              <a:off x="6048175" y="904990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 rot="-5400000">
              <a:off x="6048298" y="1333449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 rot="5400000">
              <a:off x="6810149" y="176215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 rot="-5400000">
              <a:off x="6810273" y="219061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 rot="5400000">
              <a:off x="6810149" y="2619420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 rot="-5400000">
              <a:off x="6810273" y="3047879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 rot="5400000">
              <a:off x="6810149" y="3476684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 rot="-5400000">
              <a:off x="6810273" y="3905144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 rot="5400000">
              <a:off x="6810149" y="4333949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 rot="5400000">
              <a:off x="6810149" y="4772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 rot="-5400000">
              <a:off x="6810273" y="47618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 rot="5400000">
              <a:off x="6810149" y="904990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 rot="-5400000">
              <a:off x="6810273" y="1333449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 rot="5400000">
              <a:off x="7572175" y="176215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 rot="-5400000">
              <a:off x="7572299" y="219061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 rot="5400000">
              <a:off x="7572175" y="2619420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 rot="-5400000">
              <a:off x="7572299" y="3047879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 rot="5400000">
              <a:off x="7572175" y="3476684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 rot="-5400000">
              <a:off x="7572299" y="3905144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 rot="5400000">
              <a:off x="7572175" y="4333949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 rot="5400000">
              <a:off x="7572175" y="4772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 rot="-5400000">
              <a:off x="7572299" y="47618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 rot="5400000">
              <a:off x="7572175" y="904990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 rot="-5400000">
              <a:off x="7572299" y="1333449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 rot="5400000">
              <a:off x="8334253" y="176215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 rot="-5400000">
              <a:off x="8334377" y="219061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 rot="5400000">
              <a:off x="8334253" y="2619420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 rot="-5400000">
              <a:off x="8334377" y="3047879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 rot="5400000">
              <a:off x="8334253" y="3476684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 rot="-5400000">
              <a:off x="8334377" y="3905144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 rot="5400000">
              <a:off x="8334253" y="4333949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 rot="5400000">
              <a:off x="8334253" y="4772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 rot="-5400000">
              <a:off x="8334377" y="47618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 rot="5400000">
              <a:off x="8334253" y="904990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 rot="-5400000">
              <a:off x="8334377" y="1333449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 rot="5400000">
              <a:off x="4524225" y="176215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 rot="5400000">
              <a:off x="4524225" y="2619420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 rot="5400000">
              <a:off x="4524225" y="3476684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 rot="5400000">
              <a:off x="4524225" y="4333949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 rot="-5400000">
              <a:off x="4738699" y="4548163"/>
              <a:ext cx="428700" cy="762000"/>
            </a:xfrm>
            <a:prstGeom prst="rtTriangle">
              <a:avLst/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 rot="5400000">
              <a:off x="4524225" y="47725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 rot="5400000">
              <a:off x="4524225" y="904990"/>
              <a:ext cx="857400" cy="7620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 flipH="1" rot="-5400000">
              <a:off x="4738699" y="-166420"/>
              <a:ext cx="428700" cy="762000"/>
            </a:xfrm>
            <a:prstGeom prst="rtTriangle">
              <a:avLst/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 rot="-5400000">
              <a:off x="5500674" y="4548163"/>
              <a:ext cx="428700" cy="762000"/>
            </a:xfrm>
            <a:prstGeom prst="rtTriangle">
              <a:avLst/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 flipH="1" rot="-5400000">
              <a:off x="5500674" y="-166420"/>
              <a:ext cx="428700" cy="762000"/>
            </a:xfrm>
            <a:prstGeom prst="rtTriangle">
              <a:avLst/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 rot="-5400000">
              <a:off x="6262648" y="4548163"/>
              <a:ext cx="428700" cy="762000"/>
            </a:xfrm>
            <a:prstGeom prst="rtTriangle">
              <a:avLst/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 flipH="1" rot="-5400000">
              <a:off x="6262648" y="-166420"/>
              <a:ext cx="428700" cy="762000"/>
            </a:xfrm>
            <a:prstGeom prst="rtTriangle">
              <a:avLst/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 rot="-5400000">
              <a:off x="7024623" y="4548163"/>
              <a:ext cx="428700" cy="762000"/>
            </a:xfrm>
            <a:prstGeom prst="rtTriangle">
              <a:avLst/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 flipH="1" rot="-5400000">
              <a:off x="7024623" y="-166420"/>
              <a:ext cx="428700" cy="762000"/>
            </a:xfrm>
            <a:prstGeom prst="rtTriangle">
              <a:avLst/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 rot="-5400000">
              <a:off x="7786649" y="4548163"/>
              <a:ext cx="428700" cy="762000"/>
            </a:xfrm>
            <a:prstGeom prst="rtTriangle">
              <a:avLst/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 flipH="1" rot="-5400000">
              <a:off x="7786649" y="-166420"/>
              <a:ext cx="428700" cy="762000"/>
            </a:xfrm>
            <a:prstGeom prst="rtTriangle">
              <a:avLst/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 rot="-5400000">
              <a:off x="8548727" y="4548163"/>
              <a:ext cx="428700" cy="762000"/>
            </a:xfrm>
            <a:prstGeom prst="rtTriangle">
              <a:avLst/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 flipH="1" rot="-5400000">
              <a:off x="8548727" y="-166420"/>
              <a:ext cx="428700" cy="762000"/>
            </a:xfrm>
            <a:prstGeom prst="rtTriangle">
              <a:avLst/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7" name="Google Shape;177;p2"/>
          <p:cNvSpPr/>
          <p:nvPr/>
        </p:nvSpPr>
        <p:spPr>
          <a:xfrm>
            <a:off x="1525050" y="1293850"/>
            <a:ext cx="6093900" cy="2555700"/>
          </a:xfrm>
          <a:prstGeom prst="rect">
            <a:avLst/>
          </a:prstGeom>
          <a:gradFill>
            <a:gsLst>
              <a:gs pos="0">
                <a:srgbClr val="4E29AA"/>
              </a:gs>
              <a:gs pos="100000">
                <a:srgbClr val="1E123D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"/>
          <p:cNvSpPr txBox="1"/>
          <p:nvPr/>
        </p:nvSpPr>
        <p:spPr>
          <a:xfrm>
            <a:off x="1876575" y="1668150"/>
            <a:ext cx="53910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212121"/>
              </a:solidFill>
              <a:latin typeface="Berkshire Swash"/>
              <a:ea typeface="Berkshire Swash"/>
              <a:cs typeface="Berkshire Swash"/>
              <a:sym typeface="Berkshire Swash"/>
            </a:endParaRPr>
          </a:p>
        </p:txBody>
      </p:sp>
      <p:sp>
        <p:nvSpPr>
          <p:cNvPr id="179" name="Google Shape;179;p2"/>
          <p:cNvSpPr txBox="1"/>
          <p:nvPr/>
        </p:nvSpPr>
        <p:spPr>
          <a:xfrm>
            <a:off x="1876575" y="2930428"/>
            <a:ext cx="53910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616161"/>
              </a:solidFill>
              <a:latin typeface="Great Vibes"/>
              <a:ea typeface="Great Vibes"/>
              <a:cs typeface="Great Vibes"/>
              <a:sym typeface="Great Vibe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82" name="Google Shape;182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0" name="Google Shape;200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1" name="Google Shape;201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gradFill>
          <a:gsLst>
            <a:gs pos="0">
              <a:srgbClr val="344055"/>
            </a:gs>
            <a:gs pos="100000">
              <a:srgbClr val="030304"/>
            </a:gs>
          </a:gsLst>
          <a:lin ang="5400012" scaled="0"/>
        </a:gra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effectLst>
            <a:outerShdw blurRad="57150" rotWithShape="0" algn="bl" dir="5400000" dist="57150">
              <a:schemeClr val="lt1">
                <a:alpha val="60000"/>
              </a:scheme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Font typeface="Great Vibes"/>
              <a:buNone/>
              <a:defRPr sz="4000">
                <a:latin typeface="Great Vibes"/>
                <a:ea typeface="Great Vibes"/>
                <a:cs typeface="Great Vibes"/>
                <a:sym typeface="Great Vib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Berkshire Swash"/>
              <a:buNone/>
              <a:defRPr sz="3000">
                <a:latin typeface="Berkshire Swash"/>
                <a:ea typeface="Berkshire Swash"/>
                <a:cs typeface="Berkshire Swash"/>
                <a:sym typeface="Berkshire Swash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Berkshire Swash"/>
              <a:buNone/>
              <a:defRPr sz="3000">
                <a:latin typeface="Berkshire Swash"/>
                <a:ea typeface="Berkshire Swash"/>
                <a:cs typeface="Berkshire Swash"/>
                <a:sym typeface="Berkshire Swash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Berkshire Swash"/>
              <a:buNone/>
              <a:defRPr sz="3000">
                <a:latin typeface="Berkshire Swash"/>
                <a:ea typeface="Berkshire Swash"/>
                <a:cs typeface="Berkshire Swash"/>
                <a:sym typeface="Berkshire Swash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Berkshire Swash"/>
              <a:buNone/>
              <a:defRPr sz="3000">
                <a:latin typeface="Berkshire Swash"/>
                <a:ea typeface="Berkshire Swash"/>
                <a:cs typeface="Berkshire Swash"/>
                <a:sym typeface="Berkshire Swash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Berkshire Swash"/>
              <a:buNone/>
              <a:defRPr sz="3000">
                <a:latin typeface="Berkshire Swash"/>
                <a:ea typeface="Berkshire Swash"/>
                <a:cs typeface="Berkshire Swash"/>
                <a:sym typeface="Berkshire Swash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Berkshire Swash"/>
              <a:buNone/>
              <a:defRPr sz="3000">
                <a:latin typeface="Berkshire Swash"/>
                <a:ea typeface="Berkshire Swash"/>
                <a:cs typeface="Berkshire Swash"/>
                <a:sym typeface="Berkshire Swash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Berkshire Swash"/>
              <a:buNone/>
              <a:defRPr sz="3000">
                <a:latin typeface="Berkshire Swash"/>
                <a:ea typeface="Berkshire Swash"/>
                <a:cs typeface="Berkshire Swash"/>
                <a:sym typeface="Berkshire Swash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Berkshire Swash"/>
              <a:buNone/>
              <a:defRPr sz="3000">
                <a:latin typeface="Berkshire Swash"/>
                <a:ea typeface="Berkshire Swash"/>
                <a:cs typeface="Berkshire Swash"/>
                <a:sym typeface="Berkshire Swash"/>
              </a:defRPr>
            </a:lvl9pPr>
          </a:lstStyle>
          <a:p/>
        </p:txBody>
      </p:sp>
      <p:sp>
        <p:nvSpPr>
          <p:cNvPr id="204" name="Google Shape;204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Berkshire Swash"/>
              <a:buChar char="⊹"/>
              <a:defRPr>
                <a:latin typeface="Berkshire Swash"/>
                <a:ea typeface="Berkshire Swash"/>
                <a:cs typeface="Berkshire Swash"/>
                <a:sym typeface="Berkshire Swash"/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Font typeface="Berkshire Swash"/>
              <a:buChar char="✜"/>
              <a:defRPr>
                <a:latin typeface="Berkshire Swash"/>
                <a:ea typeface="Berkshire Swash"/>
                <a:cs typeface="Berkshire Swash"/>
                <a:sym typeface="Berkshire Swash"/>
              </a:defRPr>
            </a:lvl2pPr>
            <a:lvl3pPr indent="-298450" lvl="2" marL="1371600" rtl="0">
              <a:spcBef>
                <a:spcPts val="1000"/>
              </a:spcBef>
              <a:spcAft>
                <a:spcPts val="0"/>
              </a:spcAft>
              <a:buSzPts val="1100"/>
              <a:buFont typeface="Berkshire Swash"/>
              <a:buChar char="✛"/>
              <a:defRPr>
                <a:latin typeface="Berkshire Swash"/>
                <a:ea typeface="Berkshire Swash"/>
                <a:cs typeface="Berkshire Swash"/>
                <a:sym typeface="Berkshire Swash"/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Font typeface="Berkshire Swash"/>
              <a:buChar char="✚"/>
              <a:defRPr>
                <a:latin typeface="Berkshire Swash"/>
                <a:ea typeface="Berkshire Swash"/>
                <a:cs typeface="Berkshire Swash"/>
                <a:sym typeface="Berkshire Swash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Font typeface="Berkshire Swash"/>
              <a:buChar char="✙"/>
              <a:defRPr>
                <a:latin typeface="Berkshire Swash"/>
                <a:ea typeface="Berkshire Swash"/>
                <a:cs typeface="Berkshire Swash"/>
                <a:sym typeface="Berkshire Swash"/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Font typeface="Berkshire Swash"/>
              <a:buChar char="■"/>
              <a:defRPr>
                <a:latin typeface="Berkshire Swash"/>
                <a:ea typeface="Berkshire Swash"/>
                <a:cs typeface="Berkshire Swash"/>
                <a:sym typeface="Berkshire Swash"/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Font typeface="Berkshire Swash"/>
              <a:buChar char="●"/>
              <a:defRPr>
                <a:latin typeface="Berkshire Swash"/>
                <a:ea typeface="Berkshire Swash"/>
                <a:cs typeface="Berkshire Swash"/>
                <a:sym typeface="Berkshire Swash"/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Font typeface="Berkshire Swash"/>
              <a:buChar char="○"/>
              <a:defRPr>
                <a:latin typeface="Berkshire Swash"/>
                <a:ea typeface="Berkshire Swash"/>
                <a:cs typeface="Berkshire Swash"/>
                <a:sym typeface="Berkshire Swash"/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Font typeface="Berkshire Swash"/>
              <a:buChar char="■"/>
              <a:defRPr>
                <a:latin typeface="Berkshire Swash"/>
                <a:ea typeface="Berkshire Swash"/>
                <a:cs typeface="Berkshire Swash"/>
                <a:sym typeface="Berkshire Swash"/>
              </a:defRPr>
            </a:lvl9pPr>
          </a:lstStyle>
          <a:p/>
        </p:txBody>
      </p:sp>
      <p:grpSp>
        <p:nvGrpSpPr>
          <p:cNvPr id="205" name="Google Shape;205;p4"/>
          <p:cNvGrpSpPr/>
          <p:nvPr/>
        </p:nvGrpSpPr>
        <p:grpSpPr>
          <a:xfrm flipH="1">
            <a:off x="8106150" y="1"/>
            <a:ext cx="1037850" cy="1016287"/>
            <a:chOff x="0" y="381001"/>
            <a:chExt cx="1037850" cy="1016287"/>
          </a:xfrm>
        </p:grpSpPr>
        <p:sp>
          <p:nvSpPr>
            <p:cNvPr id="206" name="Google Shape;206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145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82C7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8" name="Google Shape;208;p4"/>
          <p:cNvGrpSpPr/>
          <p:nvPr/>
        </p:nvGrpSpPr>
        <p:grpSpPr>
          <a:xfrm>
            <a:off x="6712190" y="0"/>
            <a:ext cx="2431810" cy="2786513"/>
            <a:chOff x="4406400" y="0"/>
            <a:chExt cx="4737600" cy="5143065"/>
          </a:xfrm>
        </p:grpSpPr>
        <p:sp>
          <p:nvSpPr>
            <p:cNvPr id="209" name="Google Shape;209;p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rgbClr val="FFFFFF">
                <a:alpha val="3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rgbClr val="FFFFFF">
                <a:alpha val="3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FFFFFF">
                <a:alpha val="73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FFFFFF">
                <a:alpha val="73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FFFFFF">
                <a:alpha val="73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FFFFFF">
                <a:alpha val="73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FFFFFF">
                <a:alpha val="73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82C7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FFFFFF">
                <a:alpha val="73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FFFFFF">
                <a:alpha val="73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FFFFFF">
                <a:alpha val="73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FFFFFF">
                <a:alpha val="73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FFFFFF">
                <a:alpha val="73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145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FFFFFF">
                <a:alpha val="73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FFFFFF">
                <a:alpha val="73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FFFFFF">
                <a:alpha val="73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FFFFFF">
                <a:alpha val="73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7" name="Google Shape;227;p4"/>
          <p:cNvGrpSpPr/>
          <p:nvPr/>
        </p:nvGrpSpPr>
        <p:grpSpPr>
          <a:xfrm flipH="1" rot="10800000">
            <a:off x="0" y="4127201"/>
            <a:ext cx="1037850" cy="1016287"/>
            <a:chOff x="0" y="381001"/>
            <a:chExt cx="1037850" cy="1016287"/>
          </a:xfrm>
        </p:grpSpPr>
        <p:sp>
          <p:nvSpPr>
            <p:cNvPr id="228" name="Google Shape;228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145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82C7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0" name="Google Shape;230;p4"/>
          <p:cNvGrpSpPr/>
          <p:nvPr/>
        </p:nvGrpSpPr>
        <p:grpSpPr>
          <a:xfrm rot="10800000">
            <a:off x="-10" y="2356975"/>
            <a:ext cx="2431810" cy="2786513"/>
            <a:chOff x="4406400" y="0"/>
            <a:chExt cx="4737600" cy="5143065"/>
          </a:xfrm>
        </p:grpSpPr>
        <p:sp>
          <p:nvSpPr>
            <p:cNvPr id="231" name="Google Shape;231;p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rgbClr val="FFFFFF">
                <a:alpha val="3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rgbClr val="FFFFFF">
                <a:alpha val="3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FFFFFF">
                <a:alpha val="73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FFFFFF">
                <a:alpha val="73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FFFFFF">
                <a:alpha val="73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FFFFFF">
                <a:alpha val="73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FFFFFF">
                <a:alpha val="73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82C7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FFFFFF">
                <a:alpha val="73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FFFFFF">
                <a:alpha val="73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FFFFFF">
                <a:alpha val="73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FFFFFF">
                <a:alpha val="73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FFFFFF">
                <a:alpha val="73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145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FFFFFF">
                <a:alpha val="73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FFFFFF">
                <a:alpha val="73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FFFFFF">
                <a:alpha val="73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FFFFFF">
                <a:alpha val="73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9" name="Google Shape;249;p4"/>
          <p:cNvSpPr txBox="1"/>
          <p:nvPr/>
        </p:nvSpPr>
        <p:spPr>
          <a:xfrm>
            <a:off x="8472458" y="45108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10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oogle Shape;251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252" name="Google Shape;252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4" name="Google Shape;254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55" name="Google Shape;255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6" name="Google Shape;256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7" name="Google Shape;25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260" name="Google Shape;260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2" name="Google Shape;262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3" name="Google Shape;26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266" name="Google Shape;266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8" name="Google Shape;268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9" name="Google Shape;269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70" name="Google Shape;27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273" name="Google Shape;273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1" name="Google Shape;291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2" name="Google Shape;29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oogle Shape;294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295" name="Google Shape;295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7" name="Google Shape;297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8" name="Google Shape;298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299" name="Google Shape;299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0" name="Google Shape;30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oogle Shape;302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303" name="Google Shape;303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5" name="Google Shape;305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306" name="Google Shape;30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Google Shape;308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309" name="Google Shape;309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7" name="Google Shape;327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328" name="Google Shape;328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9" name="Google Shape;32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3"/>
          <p:cNvSpPr txBox="1"/>
          <p:nvPr>
            <p:ph type="ctrTitle"/>
          </p:nvPr>
        </p:nvSpPr>
        <p:spPr>
          <a:xfrm>
            <a:off x="2063250" y="1341125"/>
            <a:ext cx="5017500" cy="15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erkshire Swash"/>
                <a:ea typeface="Berkshire Swash"/>
                <a:cs typeface="Berkshire Swash"/>
                <a:sym typeface="Berkshire Swash"/>
              </a:rPr>
              <a:t>Cars</a:t>
            </a:r>
            <a:endParaRPr>
              <a:latin typeface="Berkshire Swash"/>
              <a:ea typeface="Berkshire Swash"/>
              <a:cs typeface="Berkshire Swash"/>
              <a:sym typeface="Berkshire Swash"/>
            </a:endParaRPr>
          </a:p>
        </p:txBody>
      </p:sp>
      <p:sp>
        <p:nvSpPr>
          <p:cNvPr id="337" name="Google Shape;337;p13"/>
          <p:cNvSpPr txBox="1"/>
          <p:nvPr>
            <p:ph idx="1" type="subTitle"/>
          </p:nvPr>
        </p:nvSpPr>
        <p:spPr>
          <a:xfrm>
            <a:off x="2880575" y="32300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By: Sean and Oswal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4"/>
          <p:cNvSpPr txBox="1"/>
          <p:nvPr>
            <p:ph type="title"/>
          </p:nvPr>
        </p:nvSpPr>
        <p:spPr>
          <a:xfrm>
            <a:off x="912450" y="1793775"/>
            <a:ext cx="73191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>
                <a:latin typeface="Comic Sans MS"/>
                <a:ea typeface="Comic Sans MS"/>
                <a:cs typeface="Comic Sans MS"/>
                <a:sym typeface="Comic Sans MS"/>
              </a:rPr>
              <a:t>Our dataset got deleted </a:t>
            </a:r>
            <a:endParaRPr sz="49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43" name="Google Shape;343;p14" title="360_F_115207580_US2etunH78I7iMYHOoNVvxQTCIdoPdRj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5650" y="3014075"/>
            <a:ext cx="3318350" cy="212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Audience</a:t>
            </a:r>
            <a:endParaRPr/>
          </a:p>
        </p:txBody>
      </p:sp>
      <p:sp>
        <p:nvSpPr>
          <p:cNvPr id="349" name="Google Shape;349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⊹"/>
            </a:pPr>
            <a:r>
              <a:rPr lang="en"/>
              <a:t>The class to show how removing different features changed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⊹"/>
            </a:pPr>
            <a:r>
              <a:rPr lang="en"/>
              <a:t>how even </a:t>
            </a:r>
            <a:r>
              <a:rPr lang="en"/>
              <a:t>different</a:t>
            </a:r>
            <a:r>
              <a:rPr lang="en"/>
              <a:t> types of linear regression can get different results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⊹"/>
            </a:pPr>
            <a:r>
              <a:rPr lang="en"/>
              <a:t>how even a simple linear regression can be better </a:t>
            </a:r>
            <a:r>
              <a:rPr lang="en"/>
              <a:t>than</a:t>
            </a:r>
            <a:r>
              <a:rPr lang="en"/>
              <a:t> a more complex neural network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⊹"/>
            </a:pPr>
            <a:r>
              <a:rPr lang="en"/>
              <a:t>chinese car makers coming into American market (is what the dataset is for if you get models working)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Models</a:t>
            </a:r>
            <a:endParaRPr/>
          </a:p>
        </p:txBody>
      </p:sp>
      <p:sp>
        <p:nvSpPr>
          <p:cNvPr id="355" name="Google Shape;355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⊹"/>
            </a:pPr>
            <a:r>
              <a:rPr lang="en"/>
              <a:t>Linear Regression good for: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✜"/>
            </a:pPr>
            <a:r>
              <a:rPr lang="en"/>
              <a:t>small data size (ours is about 205 which is pretty small)</a:t>
            </a:r>
            <a:endParaRPr/>
          </a:p>
          <a:p>
            <a:pPr indent="-298450" lvl="1" marL="914400" rtl="0" algn="l">
              <a:spcBef>
                <a:spcPts val="1000"/>
              </a:spcBef>
              <a:spcAft>
                <a:spcPts val="0"/>
              </a:spcAft>
              <a:buSzPts val="1100"/>
              <a:buChar char="✜"/>
            </a:pPr>
            <a:r>
              <a:rPr lang="en"/>
              <a:t>It should mostly be linear </a:t>
            </a:r>
            <a:endParaRPr/>
          </a:p>
          <a:p>
            <a:pPr indent="-298450" lvl="1" marL="914400" rtl="0" algn="l">
              <a:spcBef>
                <a:spcPts val="1000"/>
              </a:spcBef>
              <a:spcAft>
                <a:spcPts val="0"/>
              </a:spcAft>
              <a:buSzPts val="1100"/>
              <a:buChar char="✜"/>
            </a:pPr>
            <a:r>
              <a:rPr lang="en"/>
              <a:t>No Regularization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⊹"/>
            </a:pPr>
            <a:r>
              <a:rPr lang="en"/>
              <a:t>RidgeCV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✜"/>
            </a:pPr>
            <a:r>
              <a:rPr lang="en"/>
              <a:t>L2 (Ridge) Regularization</a:t>
            </a:r>
            <a:endParaRPr/>
          </a:p>
          <a:p>
            <a:pPr indent="-298450" lvl="1" marL="914400" rtl="0" algn="l">
              <a:spcBef>
                <a:spcPts val="1000"/>
              </a:spcBef>
              <a:spcAft>
                <a:spcPts val="0"/>
              </a:spcAft>
              <a:buSzPts val="1100"/>
              <a:buChar char="✜"/>
            </a:pPr>
            <a:r>
              <a:rPr lang="en"/>
              <a:t>Built-in Cross-Validation</a:t>
            </a:r>
            <a:endParaRPr/>
          </a:p>
          <a:p>
            <a:pPr indent="-298450" lvl="1" marL="914400" rtl="0" algn="l">
              <a:spcBef>
                <a:spcPts val="1000"/>
              </a:spcBef>
              <a:spcAft>
                <a:spcPts val="0"/>
              </a:spcAft>
              <a:buSzPts val="1100"/>
              <a:buChar char="✜"/>
            </a:pPr>
            <a:r>
              <a:rPr lang="en"/>
              <a:t>Helps prevent </a:t>
            </a:r>
            <a:r>
              <a:rPr lang="en"/>
              <a:t>overfitting</a:t>
            </a:r>
            <a:endParaRPr/>
          </a:p>
          <a:p>
            <a:pPr indent="-298450" lvl="1" marL="914400" rtl="0" algn="l">
              <a:spcBef>
                <a:spcPts val="1000"/>
              </a:spcBef>
              <a:spcAft>
                <a:spcPts val="1000"/>
              </a:spcAft>
              <a:buSzPts val="1100"/>
              <a:buChar char="✜"/>
            </a:pPr>
            <a:r>
              <a:rPr lang="en"/>
              <a:t>Alphas parameter: Regularization strength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Models</a:t>
            </a:r>
            <a:endParaRPr/>
          </a:p>
        </p:txBody>
      </p:sp>
      <p:sp>
        <p:nvSpPr>
          <p:cNvPr id="361" name="Google Shape;361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⊹"/>
            </a:pPr>
            <a:r>
              <a:rPr lang="en"/>
              <a:t>Elastic Net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✜"/>
            </a:pPr>
            <a:r>
              <a:rPr lang="en"/>
              <a:t>Uses L1 (Lasso) and L2 (Ridge) Regularization</a:t>
            </a:r>
            <a:endParaRPr/>
          </a:p>
          <a:p>
            <a:pPr indent="-298450" lvl="1" marL="914400" rtl="0" algn="l">
              <a:spcBef>
                <a:spcPts val="1000"/>
              </a:spcBef>
              <a:spcAft>
                <a:spcPts val="0"/>
              </a:spcAft>
              <a:buSzPts val="1100"/>
              <a:buChar char="✜"/>
            </a:pPr>
            <a:r>
              <a:rPr lang="en"/>
              <a:t>Alpha parameter: multiplies the penalty terms</a:t>
            </a:r>
            <a:endParaRPr/>
          </a:p>
          <a:p>
            <a:pPr indent="-298450" lvl="1" marL="914400" rtl="0" algn="l">
              <a:spcBef>
                <a:spcPts val="1000"/>
              </a:spcBef>
              <a:spcAft>
                <a:spcPts val="0"/>
              </a:spcAft>
              <a:buSzPts val="1100"/>
              <a:buChar char="✜"/>
            </a:pPr>
            <a:r>
              <a:rPr lang="en"/>
              <a:t>L1_ratio parameter: L1 if ratio = 0, L2 if ratio = 1, 0 &lt; ratio &lt; 1 is a combination of L1 and L2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⊹"/>
            </a:pPr>
            <a:r>
              <a:rPr lang="en"/>
              <a:t>ARD Regression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✜"/>
            </a:pPr>
            <a:r>
              <a:rPr lang="en"/>
              <a:t>A Bayesian (Automatic Relevance Determination) Regressor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⊹"/>
            </a:pPr>
            <a:r>
              <a:rPr lang="en"/>
              <a:t>SGD Regression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1000"/>
              </a:spcAft>
              <a:buSzPts val="1100"/>
              <a:buChar char="✜"/>
            </a:pPr>
            <a:r>
              <a:rPr lang="en"/>
              <a:t>Could use L1 and L2 Regularization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Models Results</a:t>
            </a:r>
            <a:endParaRPr/>
          </a:p>
        </p:txBody>
      </p:sp>
      <p:pic>
        <p:nvPicPr>
          <p:cNvPr id="367" name="Google Shape;36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1150" y="1438875"/>
            <a:ext cx="4821699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9"/>
          <p:cNvSpPr txBox="1"/>
          <p:nvPr>
            <p:ph type="title"/>
          </p:nvPr>
        </p:nvSpPr>
        <p:spPr>
          <a:xfrm>
            <a:off x="2100" y="12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Parameter Checking</a:t>
            </a:r>
            <a:endParaRPr/>
          </a:p>
        </p:txBody>
      </p:sp>
      <p:sp>
        <p:nvSpPr>
          <p:cNvPr id="373" name="Google Shape;373;p19"/>
          <p:cNvSpPr txBox="1"/>
          <p:nvPr>
            <p:ph idx="1" type="body"/>
          </p:nvPr>
        </p:nvSpPr>
        <p:spPr>
          <a:xfrm>
            <a:off x="21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⊹"/>
            </a:pPr>
            <a:r>
              <a:rPr lang="en"/>
              <a:t>Trying to find if which </a:t>
            </a:r>
            <a:r>
              <a:rPr lang="en"/>
              <a:t>parameters lead to a better  R</a:t>
            </a:r>
            <a:r>
              <a:rPr baseline="30000" lang="en"/>
              <a:t>2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⊹"/>
            </a:pPr>
            <a:r>
              <a:rPr lang="en"/>
              <a:t>removed ones that had zero between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⊹"/>
            </a:pPr>
            <a:r>
              <a:rPr lang="en"/>
              <a:t>negative t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⊹"/>
            </a:pPr>
            <a:r>
              <a:rPr lang="en"/>
              <a:t>small t (t values smaller than or very close to 1)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⊹"/>
            </a:pPr>
            <a:r>
              <a:rPr lang="en"/>
              <a:t>p bigger than 0.5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⊹"/>
            </a:pPr>
            <a:r>
              <a:rPr lang="en"/>
              <a:t>p bigger than 0.3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⊹"/>
            </a:pPr>
            <a:r>
              <a:rPr lang="en"/>
              <a:t>p bigger than 0.1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⊹"/>
            </a:pPr>
            <a:r>
              <a:rPr lang="en"/>
              <a:t>p bigger than 0.05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⊹"/>
            </a:pPr>
            <a:r>
              <a:rPr lang="en"/>
              <a:t>p smaller than 0.5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1000"/>
              </a:spcAft>
              <a:buSzPts val="1100"/>
              <a:buChar char="✜"/>
            </a:pPr>
            <a:r>
              <a:rPr lang="en"/>
              <a:t>to show a point</a:t>
            </a:r>
            <a:endParaRPr/>
          </a:p>
        </p:txBody>
      </p:sp>
      <p:pic>
        <p:nvPicPr>
          <p:cNvPr id="374" name="Google Shape;37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9005" y="0"/>
            <a:ext cx="403499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0"/>
          <p:cNvSpPr txBox="1"/>
          <p:nvPr>
            <p:ph type="title"/>
          </p:nvPr>
        </p:nvSpPr>
        <p:spPr>
          <a:xfrm>
            <a:off x="0" y="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Parameter R </a:t>
            </a:r>
            <a:r>
              <a:rPr baseline="30000" lang="en" sz="4100"/>
              <a:t>2</a:t>
            </a:r>
            <a:endParaRPr baseline="30000" sz="4100"/>
          </a:p>
        </p:txBody>
      </p:sp>
      <p:sp>
        <p:nvSpPr>
          <p:cNvPr id="380" name="Google Shape;380;p20"/>
          <p:cNvSpPr txBox="1"/>
          <p:nvPr>
            <p:ph idx="1" type="body"/>
          </p:nvPr>
        </p:nvSpPr>
        <p:spPr>
          <a:xfrm>
            <a:off x="0" y="914100"/>
            <a:ext cx="53319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are made with simple linear regression regression models so we want to get a R</a:t>
            </a:r>
            <a:r>
              <a:rPr baseline="30000" lang="en"/>
              <a:t>2</a:t>
            </a:r>
            <a:r>
              <a:rPr lang="en"/>
              <a:t> bigger than 0.8881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None of them gets better than 0.8881 but P bigger than 0.5 and P bigger than 0.3 got fairly close. (we will use those for testing)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 smaller than 0.5 makes sense that it will be quite worse since by excluding the P values </a:t>
            </a:r>
            <a:r>
              <a:rPr lang="en"/>
              <a:t>smaller</a:t>
            </a:r>
            <a:r>
              <a:rPr lang="en"/>
              <a:t> than 0.5  we </a:t>
            </a:r>
            <a:r>
              <a:rPr lang="en"/>
              <a:t>should</a:t>
            </a:r>
            <a:r>
              <a:rPr lang="en"/>
              <a:t> only really be getting the features that aren’t too good</a:t>
            </a:r>
            <a:endParaRPr/>
          </a:p>
        </p:txBody>
      </p:sp>
      <p:pic>
        <p:nvPicPr>
          <p:cNvPr id="381" name="Google Shape;381;p20"/>
          <p:cNvPicPr preferRelativeResize="0"/>
          <p:nvPr/>
        </p:nvPicPr>
        <p:blipFill rotWithShape="1">
          <a:blip r:embed="rId3">
            <a:alphaModFix/>
          </a:blip>
          <a:srcRect b="3022" l="1301" r="9564" t="1017"/>
          <a:stretch/>
        </p:blipFill>
        <p:spPr>
          <a:xfrm>
            <a:off x="5372850" y="0"/>
            <a:ext cx="3771151" cy="434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1"/>
          <p:cNvSpPr txBox="1"/>
          <p:nvPr>
            <p:ph type="title"/>
          </p:nvPr>
        </p:nvSpPr>
        <p:spPr>
          <a:xfrm>
            <a:off x="0" y="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Parameter MSE</a:t>
            </a:r>
            <a:endParaRPr baseline="30000" sz="4100"/>
          </a:p>
        </p:txBody>
      </p:sp>
      <p:sp>
        <p:nvSpPr>
          <p:cNvPr id="387" name="Google Shape;387;p21"/>
          <p:cNvSpPr txBox="1"/>
          <p:nvPr>
            <p:ph idx="1" type="body"/>
          </p:nvPr>
        </p:nvSpPr>
        <p:spPr>
          <a:xfrm>
            <a:off x="0" y="914100"/>
            <a:ext cx="53319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see that R</a:t>
            </a:r>
            <a:r>
              <a:rPr baseline="30000" lang="en"/>
              <a:t>2</a:t>
            </a:r>
            <a:r>
              <a:rPr lang="en"/>
              <a:t> </a:t>
            </a:r>
            <a:r>
              <a:rPr lang="en"/>
              <a:t>closer</a:t>
            </a:r>
            <a:r>
              <a:rPr lang="en"/>
              <a:t> to 1 get a lower MSE.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 can see that the MSE for P bigger than 0.5 and P bigger than 0.3 give us the best results while P smaller than 0.5  gets the worst results.</a:t>
            </a:r>
            <a:endParaRPr/>
          </a:p>
        </p:txBody>
      </p:sp>
      <p:pic>
        <p:nvPicPr>
          <p:cNvPr id="388" name="Google Shape;388;p21"/>
          <p:cNvPicPr preferRelativeResize="0"/>
          <p:nvPr/>
        </p:nvPicPr>
        <p:blipFill rotWithShape="1">
          <a:blip r:embed="rId3">
            <a:alphaModFix/>
          </a:blip>
          <a:srcRect b="3465" l="2004" r="2557" t="2629"/>
          <a:stretch/>
        </p:blipFill>
        <p:spPr>
          <a:xfrm>
            <a:off x="5253175" y="2443325"/>
            <a:ext cx="3890825" cy="27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Comparisons</a:t>
            </a:r>
            <a:endParaRPr/>
          </a:p>
        </p:txBody>
      </p:sp>
      <p:sp>
        <p:nvSpPr>
          <p:cNvPr id="394" name="Google Shape;394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we will compare several </a:t>
            </a:r>
            <a:r>
              <a:rPr lang="en"/>
              <a:t>different</a:t>
            </a:r>
            <a:r>
              <a:rPr lang="en"/>
              <a:t> regression </a:t>
            </a:r>
            <a:r>
              <a:rPr lang="en"/>
              <a:t>models</a:t>
            </a:r>
            <a:r>
              <a:rPr lang="en"/>
              <a:t> and how how they compare to each other.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will use all 3 </a:t>
            </a:r>
            <a:r>
              <a:rPr lang="en"/>
              <a:t>different</a:t>
            </a:r>
            <a:r>
              <a:rPr lang="en"/>
              <a:t> sets of features that we believe will have the best results.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⊹"/>
            </a:pPr>
            <a:r>
              <a:rPr lang="en"/>
              <a:t>All the features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⊹"/>
            </a:pPr>
            <a:r>
              <a:rPr lang="en"/>
              <a:t>Remove features with a P bigger than 0.5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⊹"/>
            </a:pPr>
            <a:r>
              <a:rPr lang="en"/>
              <a:t>Remove features with a P bigger than 0.3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(this will be tested later as well)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3"/>
          <p:cNvSpPr txBox="1"/>
          <p:nvPr>
            <p:ph type="title"/>
          </p:nvPr>
        </p:nvSpPr>
        <p:spPr>
          <a:xfrm>
            <a:off x="2100" y="12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Linear Regression</a:t>
            </a:r>
            <a:endParaRPr/>
          </a:p>
        </p:txBody>
      </p:sp>
      <p:sp>
        <p:nvSpPr>
          <p:cNvPr id="400" name="Google Shape;400;p23"/>
          <p:cNvSpPr txBox="1"/>
          <p:nvPr>
            <p:ph idx="1" type="body"/>
          </p:nvPr>
        </p:nvSpPr>
        <p:spPr>
          <a:xfrm>
            <a:off x="2100" y="926850"/>
            <a:ext cx="4092300" cy="42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⊹"/>
            </a:pPr>
            <a:r>
              <a:rPr lang="en"/>
              <a:t>We see that Simple Linear Regression with all the features gets a better MSE with a score of 7.103 million</a:t>
            </a:r>
            <a:endParaRPr/>
          </a:p>
        </p:txBody>
      </p:sp>
      <p:pic>
        <p:nvPicPr>
          <p:cNvPr id="401" name="Google Shape;401;p23"/>
          <p:cNvPicPr preferRelativeResize="0"/>
          <p:nvPr/>
        </p:nvPicPr>
        <p:blipFill rotWithShape="1">
          <a:blip r:embed="rId3">
            <a:alphaModFix/>
          </a:blip>
          <a:srcRect b="0" l="1752" r="4544" t="0"/>
          <a:stretch/>
        </p:blipFill>
        <p:spPr>
          <a:xfrm>
            <a:off x="4094380" y="664750"/>
            <a:ext cx="5049619" cy="447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4"/>
          <p:cNvSpPr txBox="1"/>
          <p:nvPr>
            <p:ph type="title"/>
          </p:nvPr>
        </p:nvSpPr>
        <p:spPr>
          <a:xfrm>
            <a:off x="2100" y="12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Ridge cv</a:t>
            </a:r>
            <a:endParaRPr/>
          </a:p>
        </p:txBody>
      </p:sp>
      <p:sp>
        <p:nvSpPr>
          <p:cNvPr id="407" name="Google Shape;407;p24"/>
          <p:cNvSpPr txBox="1"/>
          <p:nvPr>
            <p:ph idx="1" type="body"/>
          </p:nvPr>
        </p:nvSpPr>
        <p:spPr>
          <a:xfrm>
            <a:off x="2100" y="926850"/>
            <a:ext cx="4092300" cy="42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⊹"/>
            </a:pPr>
            <a:r>
              <a:rPr lang="en"/>
              <a:t>We see that Ridge CV </a:t>
            </a:r>
            <a:r>
              <a:rPr lang="en"/>
              <a:t>with</a:t>
            </a:r>
            <a:r>
              <a:rPr lang="en"/>
              <a:t> P bigger than 0.5 gets a better MSE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⊹"/>
            </a:pPr>
            <a:r>
              <a:rPr lang="en"/>
              <a:t>This time, the MSE of all </a:t>
            </a:r>
            <a:r>
              <a:rPr lang="en"/>
              <a:t>the</a:t>
            </a:r>
            <a:r>
              <a:rPr lang="en"/>
              <a:t> models increased from the Simple Linear Regression which would make Simple Linear Regression so far.</a:t>
            </a:r>
            <a:endParaRPr/>
          </a:p>
        </p:txBody>
      </p:sp>
      <p:pic>
        <p:nvPicPr>
          <p:cNvPr id="408" name="Google Shape;408;p24"/>
          <p:cNvPicPr preferRelativeResize="0"/>
          <p:nvPr/>
        </p:nvPicPr>
        <p:blipFill rotWithShape="1">
          <a:blip r:embed="rId3">
            <a:alphaModFix/>
          </a:blip>
          <a:srcRect b="2318" l="882" r="17425" t="1877"/>
          <a:stretch/>
        </p:blipFill>
        <p:spPr>
          <a:xfrm>
            <a:off x="4301825" y="272899"/>
            <a:ext cx="4842173" cy="4853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5"/>
          <p:cNvSpPr txBox="1"/>
          <p:nvPr>
            <p:ph type="title"/>
          </p:nvPr>
        </p:nvSpPr>
        <p:spPr>
          <a:xfrm>
            <a:off x="2100" y="12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Elastic</a:t>
            </a:r>
            <a:r>
              <a:rPr lang="en"/>
              <a:t> Net</a:t>
            </a:r>
            <a:endParaRPr/>
          </a:p>
        </p:txBody>
      </p:sp>
      <p:sp>
        <p:nvSpPr>
          <p:cNvPr id="414" name="Google Shape;414;p25"/>
          <p:cNvSpPr txBox="1"/>
          <p:nvPr>
            <p:ph idx="1" type="body"/>
          </p:nvPr>
        </p:nvSpPr>
        <p:spPr>
          <a:xfrm>
            <a:off x="2100" y="926850"/>
            <a:ext cx="4092300" cy="42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⊹"/>
            </a:pPr>
            <a:r>
              <a:rPr lang="en"/>
              <a:t>We see that Elastic Net with all the features gets a better MSE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⊹"/>
            </a:pPr>
            <a:r>
              <a:rPr lang="en"/>
              <a:t>Again, the MSE score increased again to have the smallest MSE score now be around 8.184 million</a:t>
            </a:r>
            <a:endParaRPr/>
          </a:p>
        </p:txBody>
      </p:sp>
      <p:pic>
        <p:nvPicPr>
          <p:cNvPr id="415" name="Google Shape;415;p25"/>
          <p:cNvPicPr preferRelativeResize="0"/>
          <p:nvPr/>
        </p:nvPicPr>
        <p:blipFill rotWithShape="1">
          <a:blip r:embed="rId3">
            <a:alphaModFix/>
          </a:blip>
          <a:srcRect b="1042" l="0" r="3846" t="570"/>
          <a:stretch/>
        </p:blipFill>
        <p:spPr>
          <a:xfrm>
            <a:off x="4450575" y="406725"/>
            <a:ext cx="4693425" cy="4736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6"/>
          <p:cNvSpPr txBox="1"/>
          <p:nvPr>
            <p:ph type="title"/>
          </p:nvPr>
        </p:nvSpPr>
        <p:spPr>
          <a:xfrm>
            <a:off x="2100" y="12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ARD Regression</a:t>
            </a:r>
            <a:endParaRPr/>
          </a:p>
        </p:txBody>
      </p:sp>
      <p:sp>
        <p:nvSpPr>
          <p:cNvPr id="421" name="Google Shape;421;p26"/>
          <p:cNvSpPr txBox="1"/>
          <p:nvPr>
            <p:ph idx="1" type="body"/>
          </p:nvPr>
        </p:nvSpPr>
        <p:spPr>
          <a:xfrm>
            <a:off x="2100" y="926850"/>
            <a:ext cx="4092300" cy="42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⊹"/>
            </a:pPr>
            <a:r>
              <a:rPr lang="en"/>
              <a:t>We see that ARD Regression with all the features gets a better MSE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⊹"/>
            </a:pPr>
            <a:r>
              <a:rPr lang="en"/>
              <a:t>It seems to get similar results to the Ridge CV  but still worse results compared to a simple linear regression</a:t>
            </a:r>
            <a:endParaRPr/>
          </a:p>
        </p:txBody>
      </p:sp>
      <p:pic>
        <p:nvPicPr>
          <p:cNvPr id="422" name="Google Shape;422;p26"/>
          <p:cNvPicPr preferRelativeResize="0"/>
          <p:nvPr/>
        </p:nvPicPr>
        <p:blipFill rotWithShape="1">
          <a:blip r:embed="rId3">
            <a:alphaModFix/>
          </a:blip>
          <a:srcRect b="1794" l="0" r="1816" t="1231"/>
          <a:stretch/>
        </p:blipFill>
        <p:spPr>
          <a:xfrm>
            <a:off x="4572000" y="594773"/>
            <a:ext cx="4571999" cy="4548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7"/>
          <p:cNvSpPr txBox="1"/>
          <p:nvPr>
            <p:ph type="title"/>
          </p:nvPr>
        </p:nvSpPr>
        <p:spPr>
          <a:xfrm>
            <a:off x="2100" y="12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SGD Regression</a:t>
            </a:r>
            <a:endParaRPr/>
          </a:p>
        </p:txBody>
      </p:sp>
      <p:sp>
        <p:nvSpPr>
          <p:cNvPr id="428" name="Google Shape;428;p27"/>
          <p:cNvSpPr txBox="1"/>
          <p:nvPr>
            <p:ph idx="1" type="body"/>
          </p:nvPr>
        </p:nvSpPr>
        <p:spPr>
          <a:xfrm>
            <a:off x="2100" y="926850"/>
            <a:ext cx="4092300" cy="42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⊹"/>
            </a:pPr>
            <a:r>
              <a:rPr lang="en"/>
              <a:t>We see that SGD Regression with all the features gets a better MSE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⊹"/>
            </a:pPr>
            <a:r>
              <a:rPr lang="en"/>
              <a:t>While the other explode and get a massive MSE which is not good</a:t>
            </a:r>
            <a:endParaRPr/>
          </a:p>
        </p:txBody>
      </p:sp>
      <p:pic>
        <p:nvPicPr>
          <p:cNvPr id="429" name="Google Shape;429;p27"/>
          <p:cNvPicPr preferRelativeResize="0"/>
          <p:nvPr/>
        </p:nvPicPr>
        <p:blipFill rotWithShape="1">
          <a:blip r:embed="rId3">
            <a:alphaModFix/>
          </a:blip>
          <a:srcRect b="1873" l="0" r="11071" t="1535"/>
          <a:stretch/>
        </p:blipFill>
        <p:spPr>
          <a:xfrm>
            <a:off x="4418750" y="449600"/>
            <a:ext cx="4725249" cy="469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1466" y="0"/>
            <a:ext cx="4062532" cy="3889225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28"/>
          <p:cNvSpPr txBox="1"/>
          <p:nvPr>
            <p:ph type="title"/>
          </p:nvPr>
        </p:nvSpPr>
        <p:spPr>
          <a:xfrm>
            <a:off x="2100" y="12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Regression Again</a:t>
            </a:r>
            <a:endParaRPr/>
          </a:p>
        </p:txBody>
      </p:sp>
      <p:sp>
        <p:nvSpPr>
          <p:cNvPr id="436" name="Google Shape;436;p28"/>
          <p:cNvSpPr txBox="1"/>
          <p:nvPr>
            <p:ph idx="1" type="body"/>
          </p:nvPr>
        </p:nvSpPr>
        <p:spPr>
          <a:xfrm>
            <a:off x="2100" y="1186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one with all the features gets MSE of 7.107 million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one with the P bigger than 0.3 removed gets MSE of 7.396million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one with the P bigger than 0.5 removed gets MSE of 7.256million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9"/>
          <p:cNvSpPr txBox="1"/>
          <p:nvPr>
            <p:ph idx="1" type="body"/>
          </p:nvPr>
        </p:nvSpPr>
        <p:spPr>
          <a:xfrm>
            <a:off x="2100" y="1186550"/>
            <a:ext cx="65448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would sometimes get a one of them to be smaller than the linear regression model (in this case X_test) and one or two that are really bad (in this case just X_val).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 typically get one or two that is close but most of the time above the linear regression model (like with the X_train)</a:t>
            </a:r>
            <a:endParaRPr/>
          </a:p>
        </p:txBody>
      </p:sp>
      <p:sp>
        <p:nvSpPr>
          <p:cNvPr id="442" name="Google Shape;442;p29"/>
          <p:cNvSpPr txBox="1"/>
          <p:nvPr>
            <p:ph type="title"/>
          </p:nvPr>
        </p:nvSpPr>
        <p:spPr>
          <a:xfrm>
            <a:off x="2100" y="12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model results</a:t>
            </a:r>
            <a:endParaRPr/>
          </a:p>
        </p:txBody>
      </p:sp>
      <p:pic>
        <p:nvPicPr>
          <p:cNvPr id="443" name="Google Shape;44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6897" y="0"/>
            <a:ext cx="2597102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7366" y="2571750"/>
            <a:ext cx="2396634" cy="2571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model</a:t>
            </a:r>
            <a:endParaRPr/>
          </a:p>
        </p:txBody>
      </p:sp>
      <p:sp>
        <p:nvSpPr>
          <p:cNvPr id="450" name="Google Shape;450;p3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⊹"/>
            </a:pPr>
            <a:r>
              <a:rPr lang="en"/>
              <a:t>Not as good as linear regression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⊹"/>
            </a:pPr>
            <a:r>
              <a:rPr lang="en"/>
              <a:t>Results never seems to be better then linear regression and seem to overfit with no apparent way to really make it reliable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Google Shape;455;p31" title="3so25wft4k94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09726"/>
            <a:ext cx="9143999" cy="2496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